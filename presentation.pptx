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2743200" cy="27432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D0460"/>
                </a:solidFill>
                <a:latin typeface="Inter"/>
              </a:rPr>
              <a:t>SENIOR HCI PROJECT  · 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000000"/>
                </a:solidFill>
                <a:latin typeface="Inter"/>
              </a:rPr>
              <a:t>Wasla.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 i="0">
                <a:solidFill>
                  <a:srgbClr val="6B6B7B"/>
                </a:solidFill>
                <a:latin typeface="Inter"/>
              </a:rPr>
              <a:t>Your Smart Subscription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2D0460"/>
                </a:solidFill>
                <a:latin typeface="Cairo"/>
              </a:rPr>
              <a:t>مركز اشتراكاتك الذكي — تتبع، أدر، ووفر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3767" y="493776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767" y="4937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6 Members · 1 Supervisor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93776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5527" y="4937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Umm Al-Qura University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493776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4937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Flutter · Firebase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9047" y="493776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047" y="4937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WCAG 2.1 AA / AAA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OVERVIEW  ·  نظرة عامة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One hub. Every subscription. Zero surprise charges.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Wasla is a smart bilingual subscription manager for Saudi Arabia and the GCC — designed to fix the fragmented way people track recurring payments across streaming, software, gym, education, and family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999" y="28346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879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747FF"/>
                </a:solidFill>
                <a:latin typeface="Inter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" y="37033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nter"/>
              </a:rPr>
              <a:t>Subscriptions are scattered across emails, apps, and bank statements. Users lose track and pay for what they don’t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6071" y="28346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951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747FF"/>
                </a:solidFill>
                <a:latin typeface="Inter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8951" y="37033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nter"/>
              </a:rPr>
              <a:t>Centralise every recurring payment, surface the real monthly / yearly cost, and alert users before each renewal.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28346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1023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747FF"/>
                </a:solidFill>
                <a:latin typeface="Inter"/>
              </a:rP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37033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nter"/>
              </a:rPr>
              <a:t>A Flutter + Firebase mobile app with native RTL Arabic, deterministic AI chatbot, and guided cancellation.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0215" y="28346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3095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747FF"/>
                </a:solidFill>
                <a:latin typeface="Inter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095" y="37033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nter"/>
              </a:rPr>
              <a:t>Validated with 221 survey participants and 5 think-aloud users. WCAG AAA contrast. 6–8 weeks to ship.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01  ·  PROBLEM  ·  المشكلة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Subscriptions are bleeding Saudi wallets — silently.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Validated with 221 survey participants across Saudi Arabia. 50.7% experienced at least one unexpected charge.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999" y="24688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999" y="2743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B13B"/>
                </a:solidFill>
                <a:latin typeface="Inter"/>
              </a:rPr>
              <a:t>96.9%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99" y="38404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Want renewal reminders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42976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7B"/>
                </a:solidFill>
                <a:latin typeface="Cairo"/>
              </a:rPr>
              <a:t>لم يكن لديهم تطبيق يقدم تذكيرات قبل التجديد.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6071" y="24688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6071" y="2743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B13B"/>
                </a:solidFill>
                <a:latin typeface="Inter"/>
              </a:rPr>
              <a:t>50.7%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6071" y="38404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Hit by surprise charges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8951" y="42976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7B"/>
                </a:solidFill>
                <a:latin typeface="Cairo"/>
              </a:rPr>
              <a:t>تعرضوا لرسوم غير متوقعة على الأقل مرة واحدة.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24688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3" y="2743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B13B"/>
                </a:solidFill>
                <a:latin typeface="Inter"/>
              </a:rPr>
              <a:t>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3" y="38404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Forget active subscriptions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42976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7B"/>
                </a:solidFill>
                <a:latin typeface="Cairo"/>
              </a:rPr>
              <a:t>ينسون اشتراكات نشطة ويدفعون بدون استخدام.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0215" y="24688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0215" y="2743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B13B"/>
                </a:solidFill>
                <a:latin typeface="Inter"/>
              </a:rPr>
              <a:t>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0215" y="38404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Want Arabic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3095" y="42976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7B"/>
                </a:solidFill>
                <a:latin typeface="Cairo"/>
              </a:rPr>
              <a:t>يطلبون تطبيقاً عربياً أصيلاً بواجهة RTL.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02  ·  SOLUTION  ·  الحل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A 4-pillar ecosystem, designed for the GCC.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One hub. Four orbiters. End-to-end control over every subscription in your life.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40233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9747FF"/>
                </a:solidFill>
                <a:latin typeface="Inter"/>
              </a:rPr>
              <a:t>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56032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iro"/>
              </a:rPr>
              <a:t>كل اشتراك في مكان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603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Live renewal calendar + customisable reminders.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28416"/>
            <a:ext cx="40233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28416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9747FF"/>
                </a:solidFill>
                <a:latin typeface="Inter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32841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iro"/>
              </a:rPr>
              <a:t>لوحة إنفاق ذكية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2841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Monthly / yearly spending with insights.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96512"/>
            <a:ext cx="40233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9747FF"/>
                </a:solidFill>
                <a:latin typeface="Inter"/>
              </a:rPr>
              <a:t>ASSIST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9651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iro"/>
              </a:rPr>
              <a:t>مساعد عربي فوري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09651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Deterministic Arabic chatbot.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40233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6460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9747FF"/>
                </a:solidFill>
                <a:latin typeface="Inter"/>
              </a:rPr>
              <a:t>CANCEL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864608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iro"/>
              </a:rPr>
              <a:t>إلغاء ميسر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86460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Step-by-step cancellation for any provider.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256032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8346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9747FF"/>
                </a:solidFill>
                <a:latin typeface="Inter"/>
              </a:rPr>
              <a:t>WASLA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474720"/>
            <a:ext cx="32918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6B6B7B"/>
                </a:solidFill>
                <a:latin typeface="Inter"/>
              </a:rPr>
              <a:t>Smart Add · Analytics · Renewal Alerts · Smart Offers · Cancel Guides · AI Assistant · Multi-Channel · Favourites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03  ·  FEATURES  ·  المزايا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Eight capabilities, one super-app.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Each feature is backed by survey data, think-aloud tests, and a clean design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Smart 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إضافة 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Auto-categorise + price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4688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6517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063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تحليلات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474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Monthly / yearly spending toggle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4688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6517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Renewal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063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تنبيهات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474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3-day default, customisable per sub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6" y="24688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26517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Smart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30632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عروض ذكية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474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Personalised deals on top cats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25112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079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Cancel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دليل الإلغاء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3095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Step-by-step in-app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9272" y="4325112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45079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AI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49194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مساعد ذكي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533095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Deterministic Arabic chatbot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325112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Favourites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9194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المفضلة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533095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Pin important subs for quick access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3416" y="4325112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6296" y="45079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Multi-Channel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49194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B13B"/>
                </a:solidFill>
                <a:latin typeface="Cairo"/>
              </a:rPr>
              <a:t>دعم متعدد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533095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WhatsApp · Email · Phone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04  ·  SCREENS  ·  الشاشات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Eight high-fidelity screens, validated in Arabic.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Built in Flutter · Material 3 · with native RTL support. Dashboard colors match the design system shipped in the actual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4743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log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19" y="2651760"/>
            <a:ext cx="96012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88439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4591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signu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167" y="2651760"/>
            <a:ext cx="96012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58287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Signup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4439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hom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015" y="2651760"/>
            <a:ext cx="960120" cy="2194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8135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Home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4287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-dashboard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863" y="2651760"/>
            <a:ext cx="960120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7983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4135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5-add-subscription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11" y="2651760"/>
            <a:ext cx="960120" cy="2194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67831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Add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83983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6-details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0559" y="2651760"/>
            <a:ext cx="960120" cy="21945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37679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Details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831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7-cancellation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407" y="2651760"/>
            <a:ext cx="960120" cy="2194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07527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Cancel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3679" y="2615184"/>
            <a:ext cx="103327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8-chatbot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0255" y="2651760"/>
            <a:ext cx="960120" cy="2194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77375" y="49834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Chatbot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05  ·  ARCHITECTURE  ·  المعمارية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Clean Dart + Firebase. Three actors, one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7B"/>
                </a:solidFill>
                <a:latin typeface="Inter"/>
              </a:rPr>
              <a:t>The Subscription model is the heart. The Dashboard widget reads it. The Chatbot service answers questions about it. Real code on the left.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5120640" cy="3931920"/>
          </a:xfrm>
          <a:prstGeom prst="roundRect">
            <a:avLst>
              <a:gd name="adj" fmla="val 8000"/>
            </a:avLst>
          </a:prstGeom>
          <a:solidFill>
            <a:srgbClr val="0F0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13B"/>
                </a:solidFill>
                <a:latin typeface="Inter"/>
              </a:rPr>
              <a:t>lib/models/subscription_model.dart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57200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>
                <a:solidFill>
                  <a:srgbClr val="6B6B8A"/>
                </a:solidFill>
                <a:latin typeface="Consolas"/>
              </a:rPr>
              <a:t>// Real Subscription model from waslaa app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import </a:t>
            </a:r>
            <a:r>
              <a:rPr sz="1000">
                <a:solidFill>
                  <a:srgbClr val="4ADE80"/>
                </a:solidFill>
                <a:latin typeface="Consolas"/>
              </a:rPr>
              <a:t>'package:cloud_firestore/cloud_firestore.dart'</a:t>
            </a:r>
            <a:r>
              <a:rPr sz="1000">
                <a:solidFill>
                  <a:srgbClr val="DADAFA"/>
                </a:solidFill>
                <a:latin typeface="Consolas"/>
              </a:rPr>
              <a:t>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import </a:t>
            </a:r>
            <a:r>
              <a:rPr sz="1000">
                <a:solidFill>
                  <a:srgbClr val="4ADE80"/>
                </a:solidFill>
                <a:latin typeface="Consolas"/>
              </a:rPr>
              <a:t>'package:flutter/material.dart'</a:t>
            </a:r>
            <a:r>
              <a:rPr sz="1000">
                <a:solidFill>
                  <a:srgbClr val="DADAFA"/>
                </a:solidFill>
                <a:latin typeface="Consolas"/>
              </a:rPr>
              <a:t>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class </a:t>
            </a:r>
            <a:r>
              <a:rPr sz="1000">
                <a:solidFill>
                  <a:srgbClr val="FFB13B"/>
                </a:solidFill>
                <a:latin typeface="Consolas"/>
              </a:rPr>
              <a:t>Subscription</a:t>
            </a:r>
            <a:r>
              <a:rPr sz="1000">
                <a:solidFill>
                  <a:srgbClr val="DADAFA"/>
                </a:solidFill>
                <a:latin typeface="Consolas"/>
              </a:rPr>
              <a:t> {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final </a:t>
            </a:r>
            <a:r>
              <a:rPr sz="1000">
                <a:solidFill>
                  <a:srgbClr val="FFB13B"/>
                </a:solidFill>
                <a:latin typeface="Consolas"/>
              </a:rPr>
              <a:t>String</a:t>
            </a:r>
            <a:r>
              <a:rPr sz="1000">
                <a:solidFill>
                  <a:srgbClr val="DADAFA"/>
                </a:solidFill>
                <a:latin typeface="Consolas"/>
              </a:rPr>
              <a:t> id, userId, name;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final </a:t>
            </a:r>
            <a:r>
              <a:rPr sz="1000">
                <a:solidFill>
                  <a:srgbClr val="FFB13B"/>
                </a:solidFill>
                <a:latin typeface="Consolas"/>
              </a:rPr>
              <a:t>String</a:t>
            </a:r>
            <a:r>
              <a:rPr sz="1000">
                <a:solidFill>
                  <a:srgbClr val="DADAFA"/>
                </a:solidFill>
                <a:latin typeface="Consolas"/>
              </a:rPr>
              <a:t>? customName;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final </a:t>
            </a:r>
            <a:r>
              <a:rPr sz="1000">
                <a:solidFill>
                  <a:srgbClr val="FFB13B"/>
                </a:solidFill>
                <a:latin typeface="Consolas"/>
              </a:rPr>
              <a:t>double</a:t>
            </a:r>
            <a:r>
              <a:rPr sz="1000">
                <a:solidFill>
                  <a:srgbClr val="DADAFA"/>
                </a:solidFill>
                <a:latin typeface="Consolas"/>
              </a:rPr>
              <a:t> price;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final </a:t>
            </a:r>
            <a:r>
              <a:rPr sz="1000">
                <a:solidFill>
                  <a:srgbClr val="FFB13B"/>
                </a:solidFill>
                <a:latin typeface="Consolas"/>
              </a:rPr>
              <a:t>DateTime</a:t>
            </a:r>
            <a:r>
              <a:rPr sz="1000">
                <a:solidFill>
                  <a:srgbClr val="DADAFA"/>
                </a:solidFill>
                <a:latin typeface="Consolas"/>
              </a:rPr>
              <a:t> renewalDate;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final </a:t>
            </a:r>
            <a:r>
              <a:rPr sz="1000">
                <a:solidFill>
                  <a:srgbClr val="FFB13B"/>
                </a:solidFill>
                <a:latin typeface="Consolas"/>
              </a:rPr>
              <a:t>DateTime</a:t>
            </a:r>
            <a:r>
              <a:rPr sz="1000">
                <a:solidFill>
                  <a:srgbClr val="DADAFA"/>
                </a:solidFill>
                <a:latin typeface="Consolas"/>
              </a:rPr>
              <a:t>? expiryDate;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final </a:t>
            </a:r>
            <a:r>
              <a:rPr sz="1000">
                <a:solidFill>
                  <a:srgbClr val="FFB13B"/>
                </a:solidFill>
                <a:latin typeface="Consolas"/>
              </a:rPr>
              <a:t>String</a:t>
            </a:r>
            <a:r>
              <a:rPr sz="1000">
                <a:solidFill>
                  <a:srgbClr val="DADAFA"/>
                </a:solidFill>
                <a:latin typeface="Consolas"/>
              </a:rPr>
              <a:t> iconColor;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final </a:t>
            </a:r>
            <a:r>
              <a:rPr sz="1000">
                <a:solidFill>
                  <a:srgbClr val="FFB13B"/>
                </a:solidFill>
                <a:latin typeface="Consolas"/>
              </a:rPr>
              <a:t>String</a:t>
            </a:r>
            <a:r>
              <a:rPr sz="1000">
                <a:solidFill>
                  <a:srgbClr val="DADAFA"/>
                </a:solidFill>
                <a:latin typeface="Consolas"/>
              </a:rPr>
              <a:t>? notes, reminder, contactInfo;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late </a:t>
            </a:r>
            <a:r>
              <a:rPr sz="1000">
                <a:solidFill>
                  <a:srgbClr val="FFB13B"/>
                </a:solidFill>
                <a:latin typeface="Consolas"/>
              </a:rPr>
              <a:t>Color</a:t>
            </a:r>
            <a:r>
              <a:rPr sz="1000">
                <a:solidFill>
                  <a:srgbClr val="DADAFA"/>
                </a:solidFill>
                <a:latin typeface="Consolas"/>
              </a:rPr>
              <a:t> _cachedColor;</a:t>
            </a:r>
          </a:p>
          <a:p>
            <a:pPr algn="l"/>
            <a:r>
              <a:rPr sz="1000">
                <a:solidFill>
                  <a:srgbClr val="DADAFA"/>
                </a:solidFill>
                <a:latin typeface="Consolas"/>
              </a:rPr>
              <a:t>  Subscription({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  required </a:t>
            </a:r>
            <a:r>
              <a:rPr sz="1000">
                <a:solidFill>
                  <a:srgbClr val="DADAFA"/>
                </a:solidFill>
                <a:latin typeface="Consolas"/>
              </a:rPr>
              <a:t>this</a:t>
            </a:r>
            <a:r>
              <a:rPr sz="1000">
                <a:solidFill>
                  <a:srgbClr val="DADAFA"/>
                </a:solidFill>
                <a:latin typeface="Consolas"/>
              </a:rPr>
              <a:t>.id,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  required </a:t>
            </a:r>
            <a:r>
              <a:rPr sz="1000">
                <a:solidFill>
                  <a:srgbClr val="DADAFA"/>
                </a:solidFill>
                <a:latin typeface="Consolas"/>
              </a:rPr>
              <a:t>this</a:t>
            </a:r>
            <a:r>
              <a:rPr sz="1000">
                <a:solidFill>
                  <a:srgbClr val="DADAFA"/>
                </a:solidFill>
                <a:latin typeface="Consolas"/>
              </a:rPr>
              <a:t>.userId,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  required </a:t>
            </a:r>
            <a:r>
              <a:rPr sz="1000">
                <a:solidFill>
                  <a:srgbClr val="DADAFA"/>
                </a:solidFill>
                <a:latin typeface="Consolas"/>
              </a:rPr>
              <a:t>this</a:t>
            </a:r>
            <a:r>
              <a:rPr sz="1000">
                <a:solidFill>
                  <a:srgbClr val="DADAFA"/>
                </a:solidFill>
                <a:latin typeface="Consolas"/>
              </a:rPr>
              <a:t>.name,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  required </a:t>
            </a:r>
            <a:r>
              <a:rPr sz="1000">
                <a:solidFill>
                  <a:srgbClr val="DADAFA"/>
                </a:solidFill>
                <a:latin typeface="Consolas"/>
              </a:rPr>
              <a:t>this</a:t>
            </a:r>
            <a:r>
              <a:rPr sz="1000">
                <a:solidFill>
                  <a:srgbClr val="DADAFA"/>
                </a:solidFill>
                <a:latin typeface="Consolas"/>
              </a:rPr>
              <a:t>.price,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  required </a:t>
            </a:r>
            <a:r>
              <a:rPr sz="1000">
                <a:solidFill>
                  <a:srgbClr val="DADAFA"/>
                </a:solidFill>
                <a:latin typeface="Consolas"/>
              </a:rPr>
              <a:t>this</a:t>
            </a:r>
            <a:r>
              <a:rPr sz="1000">
                <a:solidFill>
                  <a:srgbClr val="DADAFA"/>
                </a:solidFill>
                <a:latin typeface="Consolas"/>
              </a:rPr>
              <a:t>.renewalDate,</a:t>
            </a:r>
          </a:p>
          <a:p>
            <a:pPr algn="l"/>
            <a:r>
              <a:rPr sz="1000">
                <a:solidFill>
                  <a:srgbClr val="C084FC"/>
                </a:solidFill>
                <a:latin typeface="Consolas"/>
              </a:rPr>
              <a:t>    required </a:t>
            </a:r>
            <a:r>
              <a:rPr sz="1000">
                <a:solidFill>
                  <a:srgbClr val="DADAFA"/>
                </a:solidFill>
                <a:latin typeface="Consolas"/>
              </a:rPr>
              <a:t>this</a:t>
            </a:r>
            <a:r>
              <a:rPr sz="1000">
                <a:solidFill>
                  <a:srgbClr val="DADAFA"/>
                </a:solidFill>
                <a:latin typeface="Consolas"/>
              </a:rPr>
              <a:t>.iconColor,</a:t>
            </a:r>
          </a:p>
          <a:p>
            <a:pPr algn="l"/>
            <a:r>
              <a:rPr sz="1000">
                <a:solidFill>
                  <a:srgbClr val="DADAFA"/>
                </a:solidFill>
                <a:latin typeface="Consolas"/>
              </a:rPr>
              <a:t>  }) { _cachedColor = </a:t>
            </a:r>
            <a:r>
              <a:rPr sz="1000">
                <a:solidFill>
                  <a:srgbClr val="FFB13B"/>
                </a:solidFill>
                <a:latin typeface="Consolas"/>
              </a:rPr>
              <a:t>Color</a:t>
            </a:r>
            <a:r>
              <a:rPr sz="1000">
                <a:solidFill>
                  <a:srgbClr val="DADAFA"/>
                </a:solidFill>
                <a:latin typeface="Consolas"/>
              </a:rPr>
              <a:t>(</a:t>
            </a:r>
            <a:r>
              <a:rPr sz="1000">
                <a:solidFill>
                  <a:srgbClr val="FFB13B"/>
                </a:solidFill>
                <a:latin typeface="Consolas"/>
              </a:rPr>
              <a:t>int</a:t>
            </a:r>
            <a:r>
              <a:rPr sz="1000">
                <a:solidFill>
                  <a:srgbClr val="DADAFA"/>
                </a:solidFill>
                <a:latin typeface="Consolas"/>
              </a:rPr>
              <a:t>.parse(iconColor)); }</a:t>
            </a:r>
          </a:p>
          <a:p>
            <a:pPr algn="l"/>
            <a:r>
              <a:rPr sz="1000">
                <a:solidFill>
                  <a:srgbClr val="DADAFA"/>
                </a:solidFill>
                <a:latin typeface="Consolas"/>
              </a:rPr>
              <a:t>  Color get color =&gt; _cachedColor;</a:t>
            </a:r>
          </a:p>
          <a:p>
            <a:pPr algn="l"/>
            <a:r>
              <a:rPr sz="1000">
                <a:solidFill>
                  <a:srgbClr val="DADAFA"/>
                </a:solidFill>
                <a:latin typeface="Consolas"/>
              </a:rPr>
              <a:t>  String get displayName {</a:t>
            </a:r>
          </a:p>
          <a:p>
            <a:pPr algn="l"/>
            <a:r>
              <a:rPr sz="1000">
                <a:solidFill>
                  <a:srgbClr val="DADAFA"/>
                </a:solidFill>
                <a:latin typeface="Consolas"/>
              </a:rPr>
              <a:t>    if (name == </a:t>
            </a:r>
            <a:r>
              <a:rPr sz="1000">
                <a:solidFill>
                  <a:srgbClr val="4ADE80"/>
                </a:solidFill>
                <a:latin typeface="Consolas"/>
              </a:rPr>
              <a:t>'اشتراك مخصص'</a:t>
            </a:r>
            <a:r>
              <a:rPr sz="1000">
                <a:solidFill>
                  <a:srgbClr val="DADAFA"/>
                </a:solidFill>
                <a:latin typeface="Consolas"/>
              </a:rPr>
              <a:t>) return customName!;</a:t>
            </a:r>
          </a:p>
          <a:p>
            <a:pPr algn="l"/>
            <a:r>
              <a:rPr sz="1000">
                <a:solidFill>
                  <a:srgbClr val="DADAFA"/>
                </a:solidFill>
                <a:latin typeface="Consolas"/>
              </a:rPr>
              <a:t>    return name;</a:t>
            </a:r>
          </a:p>
          <a:p>
            <a:pPr algn="l"/>
            <a:r>
              <a:rPr sz="1000">
                <a:solidFill>
                  <a:srgbClr val="DADAFA"/>
                </a:solidFill>
                <a:latin typeface="Consolas"/>
              </a:rPr>
              <a:t> 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37744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9747FF"/>
                </a:solidFill>
                <a:latin typeface="Inter"/>
              </a:rPr>
              <a:t>1  Three actors, one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74320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7B"/>
                </a:solidFill>
                <a:latin typeface="Inter"/>
              </a:rPr>
              <a:t>The Subscription model is the single source of truth. Each actor has a focused responsibility around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5021" y="347472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5021" y="3474720"/>
            <a:ext cx="1874519" cy="73152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12181" y="3657600"/>
            <a:ext cx="411480" cy="411480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2181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1" y="3639312"/>
            <a:ext cx="1142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User 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1" y="3840480"/>
            <a:ext cx="1142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7B"/>
                </a:solidFill>
                <a:latin typeface="Inter"/>
              </a:rPr>
              <a:t>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2181" y="420624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747FF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9341" y="420624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Manage subs (CRUD)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2181" y="448056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747FF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9341" y="448056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View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2181" y="475488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747FF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9341" y="475488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Receive reminders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2181" y="502920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747FF"/>
                </a:solidFill>
                <a:latin typeface="Inter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9341" y="502920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Talk to 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2181" y="530352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747FF"/>
                </a:solidFill>
                <a:latin typeface="Inter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9341" y="530352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Customise 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2181" y="557784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747FF"/>
                </a:solidFill>
                <a:latin typeface="Inte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9341" y="557784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View offers &amp; cancel guides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2181" y="585216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747FF"/>
                </a:solidFill>
                <a:latin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9341" y="585216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Search &amp; contact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0980" y="347472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40980" y="3474720"/>
            <a:ext cx="1874519" cy="73152"/>
          </a:xfrm>
          <a:prstGeom prst="rect">
            <a:avLst/>
          </a:prstGeom>
          <a:solidFill>
            <a:srgbClr val="FF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78140" y="3657600"/>
            <a:ext cx="411480" cy="411480"/>
          </a:xfrm>
          <a:prstGeom prst="ellipse">
            <a:avLst/>
          </a:prstGeom>
          <a:solidFill>
            <a:srgbClr val="FF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81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1060" y="3639312"/>
            <a:ext cx="1142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Admin Actor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1060" y="3840480"/>
            <a:ext cx="1142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7B"/>
                </a:solidFill>
                <a:latin typeface="Inter"/>
              </a:rPr>
              <a:t>OPERATOR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8140" y="420624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13B"/>
                </a:solidFill>
                <a:latin typeface="Inter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5300" y="420624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Manage advertisements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8140" y="448056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13B"/>
                </a:solidFill>
                <a:latin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5300" y="448056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Manage offers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8140" y="475488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13B"/>
                </a:solidFill>
                <a:latin typeface="Inter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5300" y="475488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Send push 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8140" y="502920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13B"/>
                </a:solidFill>
                <a:latin typeface="Inter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300" y="502920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View system analytics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06939" y="347472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06939" y="3474720"/>
            <a:ext cx="1874519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44099" y="36576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44099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47019" y="3639312"/>
            <a:ext cx="1142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System Actor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47019" y="3840480"/>
            <a:ext cx="1142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7B"/>
                </a:solidFill>
                <a:latin typeface="Inter"/>
              </a:rPr>
              <a:t>BACKGROUND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44099" y="420624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Inter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81259" y="420624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Monitor renewal dates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4099" y="448056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Inter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81259" y="448056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Generate notifications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4099" y="475488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Inter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81259" y="475488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Process spending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44099" y="502920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Inter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81259" y="502920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Store preferences locally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44099" y="5303520"/>
            <a:ext cx="137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Inter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81259" y="5303520"/>
            <a:ext cx="1508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Inter"/>
              </a:rPr>
              <a:t>Re-render all screens in new theme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06  ·  RESEARCH METHODOLOGY  ·  منهجية البحث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Inter"/>
              </a:rPr>
              <a:t>Mixed-methods research, two GPs, 226 participants.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A multi-stage user-centred design process that informs every design decision in Wasla.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6400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2560320"/>
            <a:ext cx="384048" cy="384048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9747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Literature &amp; Market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43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Analysed 12 popular subscription apps to identify feature gaps in the GCC market.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27248"/>
            <a:ext cx="6400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3218688"/>
            <a:ext cx="384048" cy="384048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186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9747FF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72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Quantitative Survey · 221 participants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0156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Online questionnaire targeting young adults (18–35) in Saudi Arabia.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85616"/>
            <a:ext cx="6400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877056"/>
            <a:ext cx="384048" cy="384048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770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9747FF"/>
                </a:solidFill>
                <a:latin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313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Qualitative Interviews · 5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599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Semi-structured interviews to deepen survey findings and uncover pain 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43984"/>
            <a:ext cx="6400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4535424"/>
            <a:ext cx="384048" cy="384048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354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9747FF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897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Think-Aloud Usability Test · 5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71830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Conducted during GP1 and GP2 to validate prototypes and the final system.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02352"/>
            <a:ext cx="6400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5193792"/>
            <a:ext cx="384048" cy="384048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193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9747FF"/>
                </a:solidFill>
                <a:latin typeface="Inter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148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Accessibility &amp; Visual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37667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WCAG 2.1 AA / AAA contrast verified at 19.41:1, 15.42:1, 12.57:1, 11.56:1.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5412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5412" y="26517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9747FF"/>
                </a:solidFill>
                <a:latin typeface="Inter"/>
              </a:rPr>
              <a:t>221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6852" y="33375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7B"/>
                </a:solidFill>
                <a:latin typeface="Inter"/>
              </a:rPr>
              <a:t>Survey participants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26780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6780" y="26517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  <a:latin typeface="Inter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8220" y="33375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7B"/>
                </a:solidFill>
                <a:latin typeface="Inter"/>
              </a:rPr>
              <a:t>Think-aloud users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28148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28148" y="26517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B13B"/>
                </a:solidFill>
                <a:latin typeface="Inter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19588" y="33375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7B"/>
                </a:solidFill>
                <a:latin typeface="Inter"/>
              </a:rPr>
              <a:t>Graded projects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25412" y="393192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5412" y="41148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9747FF"/>
                </a:solidFill>
                <a:latin typeface="Inter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6852" y="48006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7B"/>
                </a:solidFill>
                <a:latin typeface="Inter"/>
              </a:rPr>
              <a:t>Competitor apps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26780" y="393192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26780" y="41148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  <a:latin typeface="Inter"/>
              </a:rPr>
              <a:t>AAA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8220" y="48006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7B"/>
                </a:solidFill>
                <a:latin typeface="Inter"/>
              </a:rPr>
              <a:t>WCAG 2.1 contrast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28148" y="393192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28148" y="41148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D13838"/>
                </a:solidFill>
                <a:latin typeface="Inter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19588" y="48006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7B"/>
                </a:solidFill>
                <a:latin typeface="Inter"/>
              </a:rPr>
              <a:t>Roadmap phases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07  ·  TESTING METHOD  ·  طريقة الاختبار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Think-Aloud usability testing, twice.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A formative usability test with 5 participants during both GP1 and GP2.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8521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560320"/>
            <a:ext cx="384048" cy="384048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Add a new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43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From launch, through category selection, to saving.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27248"/>
            <a:ext cx="58521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3218688"/>
            <a:ext cx="384048" cy="384048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186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729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Edit an existing subscription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015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Modify reminder settings, price, or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85616"/>
            <a:ext cx="58521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877056"/>
            <a:ext cx="384048" cy="384048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770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313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Delete a subscription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599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Including the confirmation flow and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43984"/>
            <a:ext cx="58521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4535424"/>
            <a:ext cx="384048" cy="384048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354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897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Manually add a custom subscription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183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Including contact info and notes fields.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02352"/>
            <a:ext cx="58521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" y="5193792"/>
            <a:ext cx="384048" cy="384048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93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480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nter"/>
              </a:rPr>
              <a:t>Display the control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76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Open the dashboard and inspect monthly / yearly 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46888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Inter"/>
              </a:rPr>
              <a:t>Test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1089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1089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Test name: Usability test for Wasla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4564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4564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Test type: Usability, Think-Aloud Protocol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8039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80390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Sample size: 5 users per round (GP1 + GP2)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1513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1513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Environment: Mobile (Android), touch-based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498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Prerequisites: Logged in, internet, ≥1 sub, 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846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8463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Data captured: time-on-task, errors, verbal protocol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1937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1937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Iteration cycle: find issues → fix → re-test → 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08  ·  TESTING RESULTS  ·  نتائج الاختبار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Inter"/>
              </a:rPr>
              <a:t>GP1 → GP2: measurable improvement on every aspect.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A side-by-side comparison of GP1 (prototype) versus GP2 (final system).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112471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11247120" cy="365760"/>
          </a:xfrm>
          <a:prstGeom prst="rect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Aspect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231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GP1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231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GP2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423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072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Add 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807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Add button small &amp; unclear, up to 55s to complete.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807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Most users added subs successfully. "لقيت زر الإضافة بسرعة".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072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Improved button visibility.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8072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Inter"/>
              </a:rP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AF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644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User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2644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Small fonts, unclear layout, unnecessary dashboard elements.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2644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Dashboard appreciated — clear and organized.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2644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Better UI organization.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2644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Inter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216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Reminder Editing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7216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Feature not available in GP1 testing.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7216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Most users successfully edited reminders.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7216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Added reminder editing.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7216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Inter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FAF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788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Delete / Cancel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1788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Process simple, but no direct unsubscribe links.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1788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Most users deleted subs successfully.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1788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Improved deletion 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1788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Inter"/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360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Subscription 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636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Some users confused about expiry &amp; renewal.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636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Dashboard clearly shows monthly &amp; yearly expenses.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6360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Improved clarity of tracking.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6360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Inter"/>
              </a:rPr>
              <a:t>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FAF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0932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Custom Subscription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093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Feature not available in GP1 prototype.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5093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Users could manually add custom subscriptions.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0932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Inter"/>
              </a:rPr>
              <a:t>More flexible management.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50932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Inter"/>
              </a:rPr>
              <a:t>Pass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2287" y="5852160"/>
            <a:ext cx="3657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5167" y="60350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2367" y="5943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nter"/>
              </a:rPr>
              <a:t>All 6 aspects passed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2367" y="6217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B"/>
                </a:solidFill>
                <a:latin typeface="Inter"/>
              </a:rPr>
              <a:t>Zero blocking issues, no critical errors.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67047" y="5852160"/>
            <a:ext cx="3657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49927" y="6035040"/>
            <a:ext cx="365760" cy="365760"/>
          </a:xfrm>
          <a:prstGeom prst="ellipse">
            <a:avLst/>
          </a:prstGeom>
          <a:solidFill>
            <a:srgbClr val="FF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07127" y="5943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nter"/>
              </a:rPr>
              <a:t>Minor follow-ups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7127" y="6217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B"/>
                </a:solidFill>
                <a:latin typeface="Inter"/>
              </a:rPr>
              <a:t>Fewer confirmations, clearer custom-sub labels.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1807" y="5852160"/>
            <a:ext cx="3657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44687" y="6035040"/>
            <a:ext cx="365760" cy="365760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01887" y="5943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nter"/>
              </a:rPr>
              <a:t>Visual polish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01887" y="6217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B"/>
                </a:solidFill>
                <a:latin typeface="Inter"/>
              </a:rPr>
              <a:t>One user requested a colour &amp; UI refresh.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09  ·  COMPARISON  ·  المقارنة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Wasla closes every meaningful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Benchmarked against the three most popular subscription managers in global app stores.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237744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2514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BillBot · Subby · Bobby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2834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7B"/>
                </a:solidFill>
                <a:latin typeface="Inter"/>
              </a:rPr>
              <a:t>Most popular subscription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320040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Arabic language support</a:t>
            </a:r>
          </a:p>
        </p:txBody>
      </p:sp>
      <p:sp>
        <p:nvSpPr>
          <p:cNvPr id="11" name="Oval 10"/>
          <p:cNvSpPr/>
          <p:nvPr/>
        </p:nvSpPr>
        <p:spPr>
          <a:xfrm>
            <a:off x="5501487" y="3218688"/>
            <a:ext cx="182880" cy="182880"/>
          </a:xfrm>
          <a:prstGeom prst="ellipse">
            <a:avLst/>
          </a:prstGeom>
          <a:solidFill>
            <a:srgbClr val="D1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1487" y="32186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87" y="344728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Smart personalised offers</a:t>
            </a:r>
          </a:p>
        </p:txBody>
      </p:sp>
      <p:sp>
        <p:nvSpPr>
          <p:cNvPr id="14" name="Oval 13"/>
          <p:cNvSpPr/>
          <p:nvPr/>
        </p:nvSpPr>
        <p:spPr>
          <a:xfrm>
            <a:off x="5501487" y="3465576"/>
            <a:ext cx="182880" cy="182880"/>
          </a:xfrm>
          <a:prstGeom prst="ellipse">
            <a:avLst/>
          </a:prstGeom>
          <a:solidFill>
            <a:srgbClr val="D1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1487" y="346557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487" y="369417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Cancellation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1447" y="3694176"/>
            <a:ext cx="640080" cy="201168"/>
          </a:xfrm>
          <a:prstGeom prst="roundRect">
            <a:avLst>
              <a:gd name="adj" fmla="val 8000"/>
            </a:avLst>
          </a:prstGeom>
          <a:solidFill>
            <a:srgbClr val="FF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447" y="369417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PART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487" y="394106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Spending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1447" y="3941064"/>
            <a:ext cx="640080" cy="201168"/>
          </a:xfrm>
          <a:prstGeom prst="roundRect">
            <a:avLst>
              <a:gd name="adj" fmla="val 8000"/>
            </a:avLst>
          </a:prstGeom>
          <a:solidFill>
            <a:srgbClr val="FF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1447" y="394106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87" y="418795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Personalized settings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1447" y="4187952"/>
            <a:ext cx="640080" cy="201168"/>
          </a:xfrm>
          <a:prstGeom prst="roundRect">
            <a:avLst>
              <a:gd name="adj" fmla="val 8000"/>
            </a:avLst>
          </a:prstGeom>
          <a:solidFill>
            <a:srgbClr val="FF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1447" y="41879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87" y="443484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AI chatbot assistant</a:t>
            </a:r>
          </a:p>
        </p:txBody>
      </p:sp>
      <p:sp>
        <p:nvSpPr>
          <p:cNvPr id="26" name="Oval 25"/>
          <p:cNvSpPr/>
          <p:nvPr/>
        </p:nvSpPr>
        <p:spPr>
          <a:xfrm>
            <a:off x="5501487" y="4453128"/>
            <a:ext cx="182880" cy="182880"/>
          </a:xfrm>
          <a:prstGeom prst="ellipse">
            <a:avLst/>
          </a:prstGeom>
          <a:solidFill>
            <a:srgbClr val="D1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1487" y="445312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487" y="468172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Dark / Light mode</a:t>
            </a:r>
          </a:p>
        </p:txBody>
      </p:sp>
      <p:sp>
        <p:nvSpPr>
          <p:cNvPr id="29" name="Oval 28"/>
          <p:cNvSpPr/>
          <p:nvPr/>
        </p:nvSpPr>
        <p:spPr>
          <a:xfrm>
            <a:off x="5501487" y="4700016"/>
            <a:ext cx="182880" cy="182880"/>
          </a:xfrm>
          <a:prstGeom prst="ellipse">
            <a:avLst/>
          </a:prstGeom>
          <a:solidFill>
            <a:srgbClr val="D1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1487" y="470001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87" y="492861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Font size customisation</a:t>
            </a:r>
          </a:p>
        </p:txBody>
      </p:sp>
      <p:sp>
        <p:nvSpPr>
          <p:cNvPr id="32" name="Oval 31"/>
          <p:cNvSpPr/>
          <p:nvPr/>
        </p:nvSpPr>
        <p:spPr>
          <a:xfrm>
            <a:off x="5501487" y="4946904"/>
            <a:ext cx="182880" cy="182880"/>
          </a:xfrm>
          <a:prstGeom prst="ellipse">
            <a:avLst/>
          </a:prstGeom>
          <a:solidFill>
            <a:srgbClr val="D1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1487" y="49469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487" y="517550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Multi-channel support</a:t>
            </a:r>
          </a:p>
        </p:txBody>
      </p:sp>
      <p:sp>
        <p:nvSpPr>
          <p:cNvPr id="35" name="Oval 34"/>
          <p:cNvSpPr/>
          <p:nvPr/>
        </p:nvSpPr>
        <p:spPr>
          <a:xfrm>
            <a:off x="5501487" y="5193792"/>
            <a:ext cx="182880" cy="182880"/>
          </a:xfrm>
          <a:prstGeom prst="ellipse">
            <a:avLst/>
          </a:prstGeom>
          <a:solidFill>
            <a:srgbClr val="D1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1487" y="51937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487" y="542239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Native RTL interface</a:t>
            </a:r>
          </a:p>
        </p:txBody>
      </p:sp>
      <p:sp>
        <p:nvSpPr>
          <p:cNvPr id="38" name="Oval 37"/>
          <p:cNvSpPr/>
          <p:nvPr/>
        </p:nvSpPr>
        <p:spPr>
          <a:xfrm>
            <a:off x="5501487" y="5440680"/>
            <a:ext cx="182880" cy="182880"/>
          </a:xfrm>
          <a:prstGeom prst="ellipse">
            <a:avLst/>
          </a:prstGeom>
          <a:solidFill>
            <a:srgbClr val="D1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01487" y="544068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3007" y="237744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3007" y="2514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9747FF"/>
                </a:solidFill>
                <a:latin typeface="Inter"/>
              </a:rPr>
              <a:t>Wasla · وصلة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007" y="2834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7B"/>
                </a:solidFill>
                <a:latin typeface="Inter"/>
              </a:rPr>
              <a:t>Built for Saudi Arabia &amp; the GCC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8767" y="320040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Arabic language support</a:t>
            </a:r>
          </a:p>
        </p:txBody>
      </p:sp>
      <p:sp>
        <p:nvSpPr>
          <p:cNvPr id="44" name="Oval 43"/>
          <p:cNvSpPr/>
          <p:nvPr/>
        </p:nvSpPr>
        <p:spPr>
          <a:xfrm>
            <a:off x="11170767" y="321868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70767" y="32186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98767" y="344728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Smart personalised offers</a:t>
            </a:r>
          </a:p>
        </p:txBody>
      </p:sp>
      <p:sp>
        <p:nvSpPr>
          <p:cNvPr id="47" name="Oval 46"/>
          <p:cNvSpPr/>
          <p:nvPr/>
        </p:nvSpPr>
        <p:spPr>
          <a:xfrm>
            <a:off x="11170767" y="3465576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70767" y="346557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8767" y="369417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Cancellation guidance</a:t>
            </a:r>
          </a:p>
        </p:txBody>
      </p:sp>
      <p:sp>
        <p:nvSpPr>
          <p:cNvPr id="50" name="Oval 49"/>
          <p:cNvSpPr/>
          <p:nvPr/>
        </p:nvSpPr>
        <p:spPr>
          <a:xfrm>
            <a:off x="11170767" y="3712464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70767" y="371246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98767" y="394106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Spending analytics</a:t>
            </a:r>
          </a:p>
        </p:txBody>
      </p:sp>
      <p:sp>
        <p:nvSpPr>
          <p:cNvPr id="53" name="Oval 52"/>
          <p:cNvSpPr/>
          <p:nvPr/>
        </p:nvSpPr>
        <p:spPr>
          <a:xfrm>
            <a:off x="11170767" y="3959352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70767" y="395935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8767" y="418795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Personalized settings</a:t>
            </a:r>
          </a:p>
        </p:txBody>
      </p:sp>
      <p:sp>
        <p:nvSpPr>
          <p:cNvPr id="56" name="Oval 55"/>
          <p:cNvSpPr/>
          <p:nvPr/>
        </p:nvSpPr>
        <p:spPr>
          <a:xfrm>
            <a:off x="11170767" y="420624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70767" y="420624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98767" y="443484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AI chatbot assistant</a:t>
            </a:r>
          </a:p>
        </p:txBody>
      </p:sp>
      <p:sp>
        <p:nvSpPr>
          <p:cNvPr id="59" name="Oval 58"/>
          <p:cNvSpPr/>
          <p:nvPr/>
        </p:nvSpPr>
        <p:spPr>
          <a:xfrm>
            <a:off x="11170767" y="445312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170767" y="445312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98767" y="468172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Dark / Light mode</a:t>
            </a:r>
          </a:p>
        </p:txBody>
      </p:sp>
      <p:sp>
        <p:nvSpPr>
          <p:cNvPr id="62" name="Oval 61"/>
          <p:cNvSpPr/>
          <p:nvPr/>
        </p:nvSpPr>
        <p:spPr>
          <a:xfrm>
            <a:off x="11170767" y="4700016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70767" y="470001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98767" y="492861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Font size customisation</a:t>
            </a:r>
          </a:p>
        </p:txBody>
      </p:sp>
      <p:sp>
        <p:nvSpPr>
          <p:cNvPr id="65" name="Oval 64"/>
          <p:cNvSpPr/>
          <p:nvPr/>
        </p:nvSpPr>
        <p:spPr>
          <a:xfrm>
            <a:off x="11170767" y="4946904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70767" y="49469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98767" y="517550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Multi-channel support</a:t>
            </a:r>
          </a:p>
        </p:txBody>
      </p:sp>
      <p:sp>
        <p:nvSpPr>
          <p:cNvPr id="68" name="Oval 67"/>
          <p:cNvSpPr/>
          <p:nvPr/>
        </p:nvSpPr>
        <p:spPr>
          <a:xfrm>
            <a:off x="11170767" y="5193792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70767" y="51937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98767" y="542239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nter"/>
              </a:rPr>
              <a:t>Native RTL interface</a:t>
            </a:r>
          </a:p>
        </p:txBody>
      </p:sp>
      <p:sp>
        <p:nvSpPr>
          <p:cNvPr id="71" name="Oval 70"/>
          <p:cNvSpPr/>
          <p:nvPr/>
        </p:nvSpPr>
        <p:spPr>
          <a:xfrm>
            <a:off x="11170767" y="544068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70767" y="544068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10  ·  USER FLOW  ·  رحلة المستخدم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From sign-up to saved money, in 5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A linear, predictable flow that 5 think-aloud users completed without guidance during GP2.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287" y="274320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8087" y="3017520"/>
            <a:ext cx="731520" cy="731520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8087" y="30175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87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Inter"/>
              </a:rPr>
              <a:t>Register /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" y="4434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7B"/>
                </a:solidFill>
                <a:latin typeface="Inter"/>
              </a:rPr>
              <a:t>Email + password, Google or Apple sign-in.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8287" y="274320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44087" y="3017520"/>
            <a:ext cx="731520" cy="731520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4087" y="30175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8287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Inter"/>
              </a:rPr>
              <a:t>Add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447" y="4434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7B"/>
                </a:solidFill>
                <a:latin typeface="Inter"/>
              </a:rPr>
              <a:t>Category, price, dates, reminder settings.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4287" y="274320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30087" y="3017520"/>
            <a:ext cx="731520" cy="731520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30087" y="30175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287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Inter"/>
              </a:rPr>
              <a:t>View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447" y="4434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7B"/>
                </a:solidFill>
                <a:latin typeface="Inter"/>
              </a:rPr>
              <a:t>Monthly / yearly spending with toggle.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0287" y="274320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6087" y="3017520"/>
            <a:ext cx="731520" cy="731520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6087" y="30175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0287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Inter"/>
              </a:rPr>
              <a:t>Get Reminders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447" y="4434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7B"/>
                </a:solidFill>
                <a:latin typeface="Inter"/>
              </a:rPr>
              <a:t>Notified 3 days before each renewal.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16287" y="274320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02087" y="3017520"/>
            <a:ext cx="731520" cy="731520"/>
          </a:xfrm>
          <a:prstGeom prst="ellipse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2087" y="30175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6287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Inter"/>
              </a:rPr>
              <a:t>Manage &amp; Save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3447" y="4434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7B"/>
                </a:solidFill>
                <a:latin typeface="Inter"/>
              </a:rPr>
              <a:t>Edit, cancel, smart offers, chatbot.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11  ·  TECH STACK  ·  التقنيات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A modern, accessible foundation.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Cross-platform Flutter client, Firebase backend, deterministic AI, Material Design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743200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97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Flutter / 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iOS + Android from one codebase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4688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743200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743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697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Material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31089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Custom Wasla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4688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9944" y="2743200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743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697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Firebase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31089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Auth · Firestore · 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24688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72016" y="2743200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743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2697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FCM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31089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Push notifications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13632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187952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87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14223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Deterministic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553712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Curated Arabic responses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9272" y="3913632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872" y="4187952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4187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33672" y="414223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Figma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3672" y="4553712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High-fidelity prototypes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3913632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9944" y="4187952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4187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414223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Provider / BLoC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4" y="4553712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State management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43416" y="3913632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72016" y="4187952"/>
            <a:ext cx="548640" cy="54864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72016" y="4187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9747FF"/>
                </a:solidFill>
                <a:latin typeface="Inter"/>
              </a:rPr>
              <a:t>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57816" y="414223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Cloud Functions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57816" y="4553712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Inter"/>
              </a:rPr>
              <a:t>Reminder scheduling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12  ·  ROADMAP  ·  خارطة الطريق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From prototype to a smarter future.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GP1 and GP2 are validated and shipped. Phase 3 unlocks the platform for personal finance.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" y="246888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0887" y="274320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GP1  · 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32918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Core CRUD +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402336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Add / edit / delete subscriptions, basic dashboard, reminder, login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6927" y="246888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81247" y="274320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1247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GP2  · 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247" y="32918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AI + Offers + Cancellation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247" y="402336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Deterministic Arabic chatbot, smart offers, step-by-step cancel.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46888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1607" y="274320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P3  ·  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32918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Bank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607" y="402336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Connect bank and payment platforms, auto-discover subscriptions.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647" y="246888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1967" y="274320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1967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P4  ·  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1967" y="32918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Advanced AI +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1967" y="402336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Spending predictions, marketplace, family sharing.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13  ·  IMPACT  ·  الأثر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nter"/>
              </a:rPr>
              <a:t>Designed around real users, real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A research-driven HCI project — every design decision is backed by a survey, interview, or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" y="26517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567" y="301752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FFB13B"/>
                </a:solidFill>
                <a:latin typeface="Inter"/>
              </a:rPr>
              <a:t>221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42062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Survey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" y="466344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6B7B"/>
                </a:solidFill>
                <a:latin typeface="Inter"/>
              </a:rPr>
              <a:t>Young adults &amp; professionals across Saudi Arabia.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6927" y="26517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6927" y="301752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FFB13B"/>
                </a:solidFill>
                <a:latin typeface="Inter"/>
              </a:rPr>
              <a:t>96.9%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42062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Want Reminders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466344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6B7B"/>
                </a:solidFill>
                <a:latin typeface="Inter"/>
              </a:rPr>
              <a:t>And didn’t have them in any existing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26517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7" y="301752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FFB13B"/>
                </a:solidFill>
                <a:latin typeface="Inter"/>
              </a:rPr>
              <a:t>50.7%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2062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Hit by Surprise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466344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6B7B"/>
                </a:solidFill>
                <a:latin typeface="Inter"/>
              </a:rPr>
              <a:t>Experienced at least one unexpected charge.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7647" y="26517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7647" y="301752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FFB13B"/>
                </a:solidFill>
                <a:latin typeface="Inter"/>
              </a:rPr>
              <a:t>19.41:1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0527" y="42062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WCAG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0527" y="466344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6B7B"/>
                </a:solidFill>
                <a:latin typeface="Inter"/>
              </a:rPr>
              <a:t>Contrast ratio verified AA &amp; AAA.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2743200" cy="27432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14  ·  TEAM  ·  الفريق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Inter"/>
              </a:rPr>
              <a:t>The people behind Wasla.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7B"/>
                </a:solidFill>
                <a:latin typeface="Inter"/>
              </a:rPr>
              <a:t>Six future HCI specialists from Umm Al-Qura University, guided by Dr. Reem Saleh Alshaikh.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690" y="228600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6629" y="2423160"/>
            <a:ext cx="548640" cy="548640"/>
          </a:xfrm>
          <a:prstGeom prst="ellipse">
            <a:avLst/>
          </a:prstGeom>
          <a:solidFill>
            <a:srgbClr val="F2EAFE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629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2D0460"/>
                </a:solidFill>
                <a:latin typeface="Inter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30" y="30632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Inter"/>
              </a:rPr>
              <a:t>Ghadi Shaker Mutair Al-Fadhli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130" y="347472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9747FF"/>
                </a:solidFill>
                <a:latin typeface="Inter"/>
              </a:rPr>
              <a:t>Team Lead · قائدة الفريق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130" y="37490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7B"/>
                </a:solidFill>
                <a:latin typeface="Inter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130" y="39776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444000760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09649" y="228600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72588" y="2423160"/>
            <a:ext cx="548640" cy="548640"/>
          </a:xfrm>
          <a:prstGeom prst="ellipse">
            <a:avLst/>
          </a:prstGeom>
          <a:solidFill>
            <a:srgbClr val="EDE0FA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2588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2D0460"/>
                </a:solidFill>
                <a:latin typeface="Inter"/>
              </a:rP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1089" y="30632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Inter"/>
              </a:rPr>
              <a:t>Kholoud Sultan Atiq Al-Otaibi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1089" y="347472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9747FF"/>
                </a:solidFill>
                <a:latin typeface="Inter"/>
              </a:rPr>
              <a:t>UI/UX Designer · Researcher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1089" y="37490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7B"/>
                </a:solidFill>
                <a:latin typeface="Inter"/>
              </a:rPr>
              <a:t>UI/UX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1089" y="39776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444005515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75608" y="228600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38547" y="2423160"/>
            <a:ext cx="548640" cy="548640"/>
          </a:xfrm>
          <a:prstGeom prst="ellipse">
            <a:avLst/>
          </a:prstGeom>
          <a:solidFill>
            <a:srgbClr val="EDE0FA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8547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2D0460"/>
                </a:solidFill>
                <a:latin typeface="Inter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7048" y="30632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Inter"/>
              </a:rPr>
              <a:t>Elaf Ahmad Abdulsttar Almaymani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7048" y="347472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9747FF"/>
                </a:solidFill>
                <a:latin typeface="Inter"/>
              </a:rPr>
              <a:t>Backend Developer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048" y="37490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7B"/>
                </a:solidFill>
                <a:latin typeface="Inter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7048" y="39776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443008696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1567" y="228600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4506" y="2423160"/>
            <a:ext cx="548640" cy="548640"/>
          </a:xfrm>
          <a:prstGeom prst="ellipse">
            <a:avLst/>
          </a:prstGeom>
          <a:solidFill>
            <a:srgbClr val="EDE0FA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4506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2D0460"/>
                </a:solidFill>
                <a:latin typeface="Inter"/>
              </a:rPr>
              <a:t>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30632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Inter"/>
              </a:rPr>
              <a:t>Maryam Zainalabidin Fatani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3007" y="347472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9747FF"/>
                </a:solidFill>
                <a:latin typeface="Inter"/>
              </a:rPr>
              <a:t>Quality Assurance ·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3007" y="37490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7B"/>
                </a:solidFill>
                <a:latin typeface="Inter"/>
              </a:rPr>
              <a:t>QA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3007" y="39776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444006766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7526" y="228600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70465" y="2423160"/>
            <a:ext cx="548640" cy="548640"/>
          </a:xfrm>
          <a:prstGeom prst="ellipse">
            <a:avLst/>
          </a:prstGeom>
          <a:solidFill>
            <a:srgbClr val="EDE0FA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0465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2D0460"/>
                </a:solidFill>
                <a:latin typeface="Inter"/>
              </a:rPr>
              <a:t>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8966" y="30632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Inter"/>
              </a:rPr>
              <a:t>Khadijah Ahmed Azab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8966" y="347472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9747FF"/>
                </a:solidFill>
                <a:latin typeface="Inter"/>
              </a:rPr>
              <a:t>Documentation ·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8966" y="37490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7B"/>
                </a:solidFill>
                <a:latin typeface="Inter"/>
              </a:rPr>
              <a:t>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8966" y="39776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444001406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73485" y="228600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36424" y="2423160"/>
            <a:ext cx="548640" cy="548640"/>
          </a:xfrm>
          <a:prstGeom prst="ellipse">
            <a:avLst/>
          </a:prstGeom>
          <a:solidFill>
            <a:srgbClr val="EDE0FA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36424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2D0460"/>
                </a:solidFill>
                <a:latin typeface="Inter"/>
              </a:rP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4925" y="30632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Inter"/>
              </a:rPr>
              <a:t>Suha Abdulrahman Turkistani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4925" y="347472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9747FF"/>
                </a:solidFill>
                <a:latin typeface="Inter"/>
              </a:rPr>
              <a:t>AI / Chatbot Developer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4925" y="37490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7B"/>
                </a:solidFill>
                <a:latin typeface="Inter"/>
              </a:rPr>
              <a:t>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4925" y="397764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D0460"/>
                </a:solidFill>
                <a:latin typeface="Inter"/>
              </a:rPr>
              <a:t>444006390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61772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97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0460"/>
                </a:solidFill>
                <a:latin typeface="Inter"/>
              </a:rPr>
              <a:t>SUPERVISOR  ·  المشرف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983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Inter"/>
              </a:rPr>
              <a:t>Dr. Reem Saleh Alshaikh  ·  د. ريم الشيخ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303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College of Computing  ·  Umm Al-Qura University  ·  كلية الحاسبات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4937760" cy="329184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9525">
            <a:solidFill>
              <a:srgbClr val="D4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0460"/>
                </a:solidFill>
                <a:latin typeface="Inter"/>
              </a:rPr>
              <a:t>15  ·  DOCUMENTATION  ·  التوثيق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Inter"/>
              </a:rPr>
              <a:t>Full technical documentation, publicly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7B"/>
                </a:solidFill>
                <a:latin typeface="Inter"/>
              </a:rPr>
              <a:t>A complete technical reference at /docs — design system, file tree, code samples, deployment,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287" y="25603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Design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2004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12 brand tokens, light &amp; dark variants, typography, spacing, motion, elevation.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047" y="25603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File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32004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lib/models, lib/services, lib/providers, lib/screens, assets — annotated.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1807" y="25603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Code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407" y="32004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Subscription model, SpendingChart, ChatbotService intent matcher, AuthService.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287" y="41605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887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887" y="48006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Three actors, Firebase integration, FCM reminders, Cloud Functions.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047" y="41605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5647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Accessibility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48006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WCAG 2.1 AAA contrast ratios, font scaling, dark mode, RTL audit, screen reader.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1807" y="41605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407" y="48006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B"/>
                </a:solidFill>
                <a:latin typeface="Inter"/>
              </a:rPr>
              <a:t>Vercel-ready static site, GitHub Actions CI, security headers, clean URLs.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F2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2743200" cy="27432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D0460"/>
                </a:solidFill>
                <a:latin typeface="Inter"/>
              </a:rPr>
              <a:t>END  ·  النهاية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6459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000000"/>
                </a:solidFill>
                <a:latin typeface="Inter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9747FF"/>
                </a:solidFill>
                <a:latin typeface="Cairo"/>
              </a:rPr>
              <a:t>شكراً لكم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767" y="420624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767" y="4206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testuser@gmail.com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5527" y="420624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5527" y="4206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123A321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420624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7287" y="4206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Supervisor: Dr. Reem Saleh Alshaikh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9047" y="420624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047" y="4206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Inter"/>
              </a:rPr>
              <a:t>Flutter · Firebase · Dart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Inter"/>
              </a:rPr>
              <a:t>Umm Al-Qura University  ·  College of Computing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6B7B"/>
                </a:solidFill>
                <a:latin typeface="Inter"/>
              </a:rPr>
              <a:t>Presented by the Wasla team  ·  2025–2026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Inter"/>
              </a:rPr>
              <a:t>Wasla · Senior HCI Project · 2025–2026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Inter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